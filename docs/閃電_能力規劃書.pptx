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2743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0" b="0">
                <a:solidFill>
                  <a:srgbClr val="FFD700"/>
                </a:solidFill>
                <a:latin typeface="Arial"/>
              </a:defRPr>
            </a:pPr>
            <a:r>
              <a:t>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0" y="13716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  <a:latin typeface="Arial"/>
              </a:defRPr>
            </a:pPr>
            <a:r>
              <a:t>閃電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468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D4FF"/>
                </a:solidFill>
                <a:latin typeface="Arial"/>
              </a:defRPr>
            </a:pPr>
            <a:r>
              <a:t>系統顧問兼執行者 · 能力規劃書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3474720"/>
            <a:ext cx="548640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3840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D700"/>
                </a:solidFill>
                <a:latin typeface="Arial"/>
              </a:defRPr>
            </a:pPr>
            <a:r>
              <a:t>⚡ 快 · 狠 · 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669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Arial"/>
              </a:defRPr>
            </a:pPr>
            <a:r>
              <a:t>為 快閃軟件客 量身打造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56692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999999"/>
                </a:solidFill>
                <a:latin typeface="Arial"/>
              </a:defRPr>
            </a:pPr>
            <a:r>
              <a:t>2026 · 閃電 v1.0 → 雷電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⚡ 關於閃電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201168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Arial"/>
              </a:defRPr>
            </a:pPr>
            <a:r>
              <a:t>名字由來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E8E8E8"/>
                </a:solidFill>
                <a:latin typeface="Arial"/>
              </a:defRPr>
            </a:pPr>
            <a:r>
              <a:t>▸ 呼應「快閃軟件客」的快速開發理念</a:t>
            </a:r>
          </a:p>
          <a:p>
            <a:pPr>
              <a:spcAft>
                <a:spcPts val="600"/>
              </a:spcAft>
              <a:defRPr sz="1500">
                <a:solidFill>
                  <a:srgbClr val="E8E8E8"/>
                </a:solidFill>
                <a:latin typeface="Arial"/>
              </a:defRPr>
            </a:pPr>
            <a:r>
              <a:t>▸ 閃電代表速度、精準、一擊即中</a:t>
            </a:r>
          </a:p>
          <a:p>
            <a:pPr>
              <a:spcAft>
                <a:spcPts val="600"/>
              </a:spcAft>
              <a:defRPr sz="1500">
                <a:solidFill>
                  <a:srgbClr val="E8E8E8"/>
                </a:solidFill>
                <a:latin typeface="Arial"/>
              </a:defRPr>
            </a:pPr>
            <a:r>
              <a:t>▸ 從 ⚡ 閃電 進化 → ⚡⚡ 雷電（終極型態）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029200" cy="201168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Arial"/>
              </a:defRPr>
            </a:pPr>
            <a:r>
              <a:t>角色定位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37744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
                  <a:srgbClr val="E8E8E8"/>
                </a:solidFill>
                <a:latin typeface="Arial"/>
              </a:defRPr>
            </a:pPr>
            <a:r>
              <a:t>▸ 系統顧問 — 幫你想清楚要怎麼做</a:t>
            </a:r>
          </a:p>
          <a:p>
            <a:pPr>
              <a:spcAft>
                <a:spcPts val="600"/>
              </a:spcAft>
              <a:defRPr sz="1500">
                <a:solidFill>
                  <a:srgbClr val="E8E8E8"/>
                </a:solidFill>
                <a:latin typeface="Arial"/>
              </a:defRPr>
            </a:pPr>
            <a:r>
              <a:t>▸ 執行者 — 把想法變成能跑的程式碼</a:t>
            </a:r>
          </a:p>
          <a:p>
            <a:pPr>
              <a:spcAft>
                <a:spcPts val="600"/>
              </a:spcAft>
              <a:defRPr sz="1500">
                <a:solidFill>
                  <a:srgbClr val="E8E8E8"/>
                </a:solidFill>
                <a:latin typeface="Arial"/>
              </a:defRPr>
            </a:pPr>
            <a:r>
              <a:t>▸ 節奏配合 — 短線開發快速迭代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515600" cy="22860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Arial"/>
              </a:defRPr>
            </a:pPr>
            <a:r>
              <a:t>核心信念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663440"/>
            <a:ext cx="2926080" cy="137160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4754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  <a:latin typeface="Arial"/>
              </a:defRPr>
            </a:pPr>
            <a:r>
              <a:t>⚡ 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2120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8E8"/>
                </a:solidFill>
                <a:latin typeface="Arial"/>
              </a:defRPr>
            </a:pPr>
            <a:r>
              <a:t>不廢話，能動手的就不動口</a:t>
            </a:r>
            <a:br/>
            <a:r>
              <a:t>沒進度的時間都是浪費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0" y="4663440"/>
            <a:ext cx="2926080" cy="137160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63440" y="4754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  <a:latin typeface="Arial"/>
              </a:defRPr>
            </a:pPr>
            <a:r>
              <a:t>⚡ 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52120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8E8"/>
                </a:solidFill>
                <a:latin typeface="Arial"/>
              </a:defRPr>
            </a:pPr>
            <a:r>
              <a:t>務實優先，出主意不如出成果</a:t>
            </a:r>
            <a:br/>
            <a:r>
              <a:t>小遊戲能跑比設計文件重要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863840" y="4663440"/>
            <a:ext cx="2926080" cy="1371600"/>
          </a:xfrm>
          <a:prstGeom prst="roundRect">
            <a:avLst/>
          </a:prstGeom>
          <a:solidFill>
            <a:srgbClr val="2A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4754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  <a:latin typeface="Arial"/>
              </a:defRPr>
            </a:pPr>
            <a:r>
              <a:t>⚡ 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52120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8E8"/>
                </a:solidFill>
                <a:latin typeface="Arial"/>
              </a:defRPr>
            </a:pPr>
            <a:r>
              <a:t>直接溝通，精準打擊</a:t>
            </a:r>
            <a:br/>
            <a:r>
              <a:t>有進度報進度，有問題報問題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⚡ 六大核心能力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291840" cy="201168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291840" cy="50800"/>
          </a:xfrm>
          <a:prstGeom prst="rect">
            <a:avLst/>
          </a:prstGeom>
          <a:solidFill>
            <a:srgbClr val="377E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20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77EA8"/>
                </a:solidFill>
                <a:latin typeface="Arial"/>
              </a:defRPr>
            </a:pPr>
            <a:r>
              <a:t>🐍 Python 開發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Arial"/>
              </a:defRPr>
            </a:pPr>
            <a:r>
              <a:t>寫 code、debug、重構</a:t>
            </a:r>
            <a:br/>
            <a:r>
              <a:t>打包成可執行檔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59" y="1645920"/>
            <a:ext cx="3291840" cy="201168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645920"/>
            <a:ext cx="3291840" cy="508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1920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8B5CF6"/>
                </a:solidFill>
                <a:latin typeface="Arial"/>
              </a:defRPr>
            </a:pPr>
            <a:r>
              <a:t>🎮 原型速做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79" y="24688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Arial"/>
              </a:defRPr>
            </a:pPr>
            <a:r>
              <a:t>從 idea 到可運行程式</a:t>
            </a:r>
            <a:br/>
            <a:r>
              <a:t>快速迭代·今日有成果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645920"/>
            <a:ext cx="3291840" cy="201168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645920"/>
            <a:ext cx="3291840" cy="50800"/>
          </a:xfrm>
          <a:prstGeom prst="rect">
            <a:avLst/>
          </a:prstGeom>
          <a:solidFill>
            <a:srgbClr val="00B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0" y="1920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B88B"/>
                </a:solidFill>
                <a:latin typeface="Arial"/>
              </a:defRPr>
            </a:pPr>
            <a:r>
              <a:t>🔧 系統顧問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246888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Arial"/>
              </a:defRPr>
            </a:pPr>
            <a:r>
              <a:t>架構建議·效能優化</a:t>
            </a:r>
            <a:br/>
            <a:r>
              <a:t>技術選型·最佳實踐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023360"/>
            <a:ext cx="3291840" cy="201168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023360"/>
            <a:ext cx="3291840" cy="508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297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59E0B"/>
                </a:solidFill>
                <a:latin typeface="Arial"/>
              </a:defRPr>
            </a:pPr>
            <a:r>
              <a:t>📝 文件撰寫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8463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Arial"/>
              </a:defRPr>
            </a:pPr>
            <a:r>
              <a:t>README·使用說明</a:t>
            </a:r>
            <a:br/>
            <a:r>
              <a:t>API 文檔·設計記錄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4023360"/>
            <a:ext cx="3291840" cy="201168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480559" y="4023360"/>
            <a:ext cx="3291840" cy="50800"/>
          </a:xfrm>
          <a:prstGeom prst="rect">
            <a:avLst/>
          </a:prstGeom>
          <a:solidFill>
            <a:srgbClr val="E05E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79" y="4297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05E5E"/>
                </a:solidFill>
                <a:latin typeface="Arial"/>
              </a:defRPr>
            </a:pPr>
            <a:r>
              <a:t>🔍 技術調研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48463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Arial"/>
              </a:defRPr>
            </a:pPr>
            <a:r>
              <a:t>Library 评估·問題排查</a:t>
            </a:r>
            <a:br/>
            <a:r>
              <a:t>替代方案比較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023360"/>
            <a:ext cx="3291840" cy="201168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4023360"/>
            <a:ext cx="3291840" cy="50800"/>
          </a:xfrm>
          <a:prstGeom prst="rect">
            <a:avLst/>
          </a:prstGeom>
          <a:solidFill>
            <a:srgbClr val="6B5B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03920" y="4297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B5B7B"/>
                </a:solidFill>
                <a:latin typeface="Arial"/>
              </a:defRPr>
            </a:pPr>
            <a:r>
              <a:t>🌐 資料查詢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84632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8E8E8"/>
                </a:solidFill>
                <a:latin typeface="Arial"/>
              </a:defRPr>
            </a:pPr>
            <a:r>
              <a:t>網路搜尋·文檔爬取</a:t>
            </a:r>
            <a:br/>
            <a:r>
              <a:t>即時資訊獲取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⚡ 服務流程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88720" y="1828800"/>
            <a:ext cx="731520" cy="7315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2400" b="1">
                <a:solidFill>
                  <a:srgbClr val="1A1A2E"/>
                </a:solidFill>
              </a:defRPr>
            </a:pPr>
            <a:r>
              <a:t>1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011680" y="2011680"/>
            <a:ext cx="731520" cy="3657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834640"/>
            <a:ext cx="2011680" cy="164592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Arial"/>
              </a:defRPr>
            </a:pPr>
            <a:r>
              <a:t>💡 任務下達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4747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8E8"/>
                </a:solidFill>
                <a:latin typeface="Arial"/>
              </a:defRPr>
            </a:pPr>
            <a:r>
              <a:t>你一句話</a:t>
            </a:r>
            <a:br/>
            <a:r>
              <a:t>丟任務給我</a:t>
            </a:r>
          </a:p>
        </p:txBody>
      </p:sp>
      <p:sp>
        <p:nvSpPr>
          <p:cNvPr id="10" name="Oval 9"/>
          <p:cNvSpPr/>
          <p:nvPr/>
        </p:nvSpPr>
        <p:spPr>
          <a:xfrm>
            <a:off x="3520440" y="1828800"/>
            <a:ext cx="731520" cy="7315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2400" b="1">
                <a:solidFill>
                  <a:srgbClr val="1A1A2E"/>
                </a:solidFill>
              </a:defRPr>
            </a:pPr>
            <a:r>
              <a:t>2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343400" y="2011680"/>
            <a:ext cx="731520" cy="3657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80360" y="2834640"/>
            <a:ext cx="2011680" cy="164592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7180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Arial"/>
              </a:defRPr>
            </a:pPr>
            <a:r>
              <a:t>🤔 理解與規劃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4747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8E8"/>
                </a:solidFill>
                <a:latin typeface="Arial"/>
              </a:defRPr>
            </a:pPr>
            <a:r>
              <a:t>我消化需求</a:t>
            </a:r>
            <a:br/>
            <a:r>
              <a:t>規劃執行方向</a:t>
            </a:r>
          </a:p>
        </p:txBody>
      </p:sp>
      <p:sp>
        <p:nvSpPr>
          <p:cNvPr id="15" name="Oval 14"/>
          <p:cNvSpPr/>
          <p:nvPr/>
        </p:nvSpPr>
        <p:spPr>
          <a:xfrm>
            <a:off x="5852159" y="1828800"/>
            <a:ext cx="731520" cy="7315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2400" b="1">
                <a:solidFill>
                  <a:srgbClr val="1A1A2E"/>
                </a:solidFill>
              </a:defRPr>
            </a:pPr>
            <a:r>
              <a:t>3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675119" y="2011680"/>
            <a:ext cx="731520" cy="3657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12079" y="2834640"/>
            <a:ext cx="2011680" cy="164592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19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Arial"/>
              </a:defRPr>
            </a:pPr>
            <a:r>
              <a:t>⚡ 快速執行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19" y="34747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8E8"/>
                </a:solidFill>
                <a:latin typeface="Arial"/>
              </a:defRPr>
            </a:pPr>
            <a:r>
              <a:t>直接開工</a:t>
            </a:r>
            <a:br/>
            <a:r>
              <a:t>出成果</a:t>
            </a:r>
          </a:p>
        </p:txBody>
      </p:sp>
      <p:sp>
        <p:nvSpPr>
          <p:cNvPr id="20" name="Oval 19"/>
          <p:cNvSpPr/>
          <p:nvPr/>
        </p:nvSpPr>
        <p:spPr>
          <a:xfrm>
            <a:off x="8183880" y="1828800"/>
            <a:ext cx="731520" cy="7315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2400" b="1">
                <a:solidFill>
                  <a:srgbClr val="1A1A2E"/>
                </a:solidFill>
              </a:defRPr>
            </a:pPr>
            <a:r>
              <a:t>4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006840" y="2011680"/>
            <a:ext cx="731520" cy="3657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543800" y="2834640"/>
            <a:ext cx="2011680" cy="164592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5240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Arial"/>
              </a:defRPr>
            </a:pPr>
            <a:r>
              <a:t>🔄 迭代反饋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34747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8E8"/>
                </a:solidFill>
                <a:latin typeface="Arial"/>
              </a:defRPr>
            </a:pPr>
            <a:r>
              <a:t>你給 feedback</a:t>
            </a:r>
            <a:br/>
            <a:r>
              <a:t>我精準調整</a:t>
            </a:r>
          </a:p>
        </p:txBody>
      </p:sp>
      <p:sp>
        <p:nvSpPr>
          <p:cNvPr id="25" name="Oval 24"/>
          <p:cNvSpPr/>
          <p:nvPr/>
        </p:nvSpPr>
        <p:spPr>
          <a:xfrm>
            <a:off x="10515599" y="1828800"/>
            <a:ext cx="731520" cy="73152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0"/>
              </a:spcBef>
              <a:defRPr sz="2400" b="1">
                <a:solidFill>
                  <a:srgbClr val="1A1A2E"/>
                </a:solidFill>
              </a:defRPr>
            </a:pPr>
            <a:r>
              <a:t>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75519" y="2834640"/>
            <a:ext cx="2011680" cy="164592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59" y="30175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D4FF"/>
                </a:solidFill>
                <a:latin typeface="Arial"/>
              </a:defRPr>
            </a:pPr>
            <a:r>
              <a:t>✅ 完成交付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59" y="347472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E8E8E8"/>
                </a:solidFill>
                <a:latin typeface="Arial"/>
              </a:defRPr>
            </a:pPr>
            <a:r>
              <a:t>成品到手</a:t>
            </a:r>
            <a:br/>
            <a:r>
              <a:t>準備下一發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🐍 Python 開發支援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5720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Arial"/>
              </a:defRPr>
            </a:pPr>
            <a:r>
              <a:t>我能做什麼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389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8E8E8"/>
                </a:solidFill>
                <a:latin typeface="Arial"/>
              </a:defRPr>
            </a:pPr>
            <a:r>
              <a:t>▸ 從零寫 prototype — 小遊戲、小工具一氣呵成</a:t>
            </a:r>
          </a:p>
          <a:p>
            <a:pPr>
              <a:spcAft>
                <a:spcPts val="600"/>
              </a:spcAft>
              <a:defRPr sz="1400">
                <a:solidFill>
                  <a:srgbClr val="E8E8E8"/>
                </a:solidFill>
                <a:latin typeface="Arial"/>
              </a:defRPr>
            </a:pPr>
            <a:r>
              <a:t>▸ Debug 疑難雜症 — 幫你揪出隱藏 bug</a:t>
            </a:r>
          </a:p>
          <a:p>
            <a:pPr>
              <a:spcAft>
                <a:spcPts val="600"/>
              </a:spcAft>
              <a:defRPr sz="1400">
                <a:solidFill>
                  <a:srgbClr val="E8E8E8"/>
                </a:solidFill>
                <a:latin typeface="Arial"/>
              </a:defRPr>
            </a:pPr>
            <a:r>
              <a:t>▸ 重構爛 code — 把 spaghetti 變成 clean code</a:t>
            </a:r>
          </a:p>
          <a:p>
            <a:pPr>
              <a:spcAft>
                <a:spcPts val="600"/>
              </a:spcAft>
              <a:defRPr sz="1400">
                <a:solidFill>
                  <a:srgbClr val="E8E8E8"/>
                </a:solidFill>
                <a:latin typeface="Arial"/>
              </a:defRPr>
            </a:pPr>
            <a:r>
              <a:t>▸ 打包發布 — PyInstaller / Nuitka 打包成 exe</a:t>
            </a:r>
          </a:p>
          <a:p>
            <a:pPr>
              <a:spcAft>
                <a:spcPts val="600"/>
              </a:spcAft>
              <a:defRPr sz="1400">
                <a:solidFill>
                  <a:srgbClr val="E8E8E8"/>
                </a:solidFill>
                <a:latin typeface="Arial"/>
              </a:defRPr>
            </a:pPr>
            <a:r>
              <a:t>▸ Library 評估 — 哪個套件最適合你的需求</a:t>
            </a:r>
          </a:p>
          <a:p>
            <a:pPr>
              <a:spcAft>
                <a:spcPts val="600"/>
              </a:spcAft>
              <a:defRPr sz="1400">
                <a:solidFill>
                  <a:srgbClr val="E8E8E8"/>
                </a:solidFill>
                <a:latin typeface="Arial"/>
              </a:defRPr>
            </a:pPr>
            <a:r>
              <a:t>▸ 效能優化 — 慢 code 變快 code</a:t>
            </a:r>
          </a:p>
          <a:p>
            <a:pPr>
              <a:spcAft>
                <a:spcPts val="600"/>
              </a:spcAft>
              <a:defRPr sz="1400">
                <a:solidFill>
                  <a:srgbClr val="E8E8E8"/>
                </a:solidFill>
                <a:latin typeface="Arial"/>
              </a:defRPr>
            </a:pPr>
            <a:r>
              <a:t>▸ 自動化腳本 — 重複的事交給 script</a:t>
            </a:r>
          </a:p>
          <a:p>
            <a:pPr>
              <a:spcAft>
                <a:spcPts val="600"/>
              </a:spcAft>
              <a:defRPr sz="1400">
                <a:solidFill>
                  <a:srgbClr val="E8E8E8"/>
                </a:solidFill>
                <a:latin typeface="Arial"/>
              </a:defRPr>
            </a:pPr>
            <a:r>
              <a:t>▸ 技術調研 — 不確定怎麼做？我幫你研究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029200" cy="45720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Arial"/>
              </a:defRPr>
            </a:pPr>
            <a:r>
              <a:t>常用技術棧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468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t>🐍 Python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7889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/>
              </a:defRPr>
            </a:pPr>
            <a:r>
              <a:t>主戰語言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468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t>🎮 Pygame / Arcade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27889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/>
              </a:defRPr>
            </a:pPr>
            <a:r>
              <a:t>小遊戲開發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383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t>🖥️ Tkinter / PyQt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7033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/>
              </a:defRPr>
            </a:pPr>
            <a:r>
              <a:t>桌面小工具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33832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t>📦 PyInstaller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37033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/>
              </a:defRPr>
            </a:pPr>
            <a:r>
              <a:t>打包成 exe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297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t>🔬 pytest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4617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/>
              </a:defRPr>
            </a:pPr>
            <a:r>
              <a:t>單元測試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4297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t>📊 pip / venv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46177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/>
              </a:defRPr>
            </a:pPr>
            <a:r>
              <a:t>環境管理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5212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t>🌐 FastAPI / Flask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55321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/>
              </a:defRPr>
            </a:pPr>
            <a:r>
              <a:t>簡易後端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52120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Arial"/>
              </a:defRPr>
            </a:pPr>
            <a:r>
              <a:t>📄 python-pptx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55321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99"/>
                </a:solidFill>
                <a:latin typeface="Arial"/>
              </a:defRPr>
            </a:pPr>
            <a:r>
              <a:t>PowerPoint 生成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⚡⚡ 成長路線圖：閃電 → 雷電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291840" cy="45720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現在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0" y="2011680"/>
            <a:ext cx="548640" cy="381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ight Arrow 6"/>
          <p:cNvSpPr/>
          <p:nvPr/>
        </p:nvSpPr>
        <p:spPr>
          <a:xfrm>
            <a:off x="3657600" y="1874520"/>
            <a:ext cx="457200" cy="3657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468880"/>
            <a:ext cx="3291840" cy="32004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468880"/>
            <a:ext cx="3291840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43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  <a:latin typeface="Arial"/>
              </a:defRPr>
            </a:pPr>
            <a:r>
              <a:t>⚡ 閃電 v1.0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9184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8E8"/>
                </a:solidFill>
                <a:latin typeface="Arial"/>
              </a:defRPr>
            </a:pPr>
            <a:r>
              <a:t>基本能力建立</a:t>
            </a:r>
            <a:br/>
            <a:r>
              <a:t>Telegram 溝通</a:t>
            </a:r>
            <a:br/>
            <a:r>
              <a:t>Python 開發支援</a:t>
            </a:r>
            <a:br/>
            <a:r>
              <a:t>需求快速執行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1828800"/>
            <a:ext cx="3291840" cy="457200"/>
          </a:xfrm>
          <a:prstGeom prst="round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近期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63840" y="2011680"/>
            <a:ext cx="548640" cy="38100"/>
          </a:xfrm>
          <a:prstGeom prst="rect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7498080" y="1874520"/>
            <a:ext cx="457200" cy="365760"/>
          </a:xfrm>
          <a:prstGeom prst="rightArrow">
            <a:avLst/>
          </a:prstGeom>
          <a:solidFill>
            <a:srgbClr val="9999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72000" y="2468880"/>
            <a:ext cx="3291840" cy="32004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2468880"/>
            <a:ext cx="3291840" cy="508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2743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D700"/>
                </a:solidFill>
                <a:latin typeface="Arial"/>
              </a:defRPr>
            </a:pPr>
            <a:r>
              <a:t>⚡⚡ 閃電 v2.0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29184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8E8"/>
                </a:solidFill>
                <a:latin typeface="Arial"/>
              </a:defRPr>
            </a:pPr>
            <a:r>
              <a:t>記憶系統深化</a:t>
            </a:r>
            <a:br/>
            <a:r>
              <a:t>自動化排程</a:t>
            </a:r>
            <a:br/>
            <a:r>
              <a:t>專案管理追蹤</a:t>
            </a:r>
            <a:br/>
            <a:r>
              <a:t>更深入的理解力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1828800"/>
            <a:ext cx="3291840" cy="457200"/>
          </a:xfrm>
          <a:prstGeom prst="round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A1A2E"/>
                </a:solidFill>
              </a:defRPr>
            </a:pPr>
            <a:r>
              <a:t>遠景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2468880"/>
            <a:ext cx="3291840" cy="32004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412480" y="2468880"/>
            <a:ext cx="3291840" cy="5080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27432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4444"/>
                </a:solidFill>
                <a:latin typeface="Arial"/>
              </a:defRPr>
            </a:pPr>
            <a:r>
              <a:t>⚡⚡⚡ 雷電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291840"/>
            <a:ext cx="29260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E8E8E8"/>
                </a:solidFill>
                <a:latin typeface="Arial"/>
              </a:defRPr>
            </a:pPr>
            <a:r>
              <a:t>完全自主執行</a:t>
            </a:r>
            <a:br/>
            <a:r>
              <a:t>預測性建議</a:t>
            </a:r>
            <a:br/>
            <a:r>
              <a:t>多專案並行管理</a:t>
            </a:r>
            <a:br/>
            <a:r>
              <a:t>成熟的開發夥伴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508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⚡ 合作方式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22860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029200" cy="45720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Arial"/>
              </a:defRPr>
            </a:pPr>
            <a:r>
              <a:t>你該怎麼用我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377440"/>
            <a:ext cx="4389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8E8E8"/>
                </a:solidFill>
                <a:latin typeface="Arial"/>
              </a:defRPr>
            </a:pPr>
            <a:r>
              <a:t>📩 直接說需求 — 「幫我做個打磚塊遊戲」</a:t>
            </a:r>
          </a:p>
          <a:p>
            <a:pPr>
              <a:spcAft>
                <a:spcPts val="600"/>
              </a:spcAft>
              <a:defRPr sz="1400">
                <a:solidFill>
                  <a:srgbClr val="E8E8E8"/>
                </a:solidFill>
                <a:latin typeface="Arial"/>
              </a:defRPr>
            </a:pPr>
            <a:r>
              <a:t>🔍 丟問題給我 — 「這個 bug 在哪？」</a:t>
            </a:r>
          </a:p>
          <a:p>
            <a:pPr>
              <a:spcAft>
                <a:spcPts val="600"/>
              </a:spcAft>
              <a:defRPr sz="1400">
                <a:solidFill>
                  <a:srgbClr val="E8E8E8"/>
                </a:solidFill>
                <a:latin typeface="Arial"/>
              </a:defRPr>
            </a:pPr>
            <a:r>
              <a:t>💡 問建議 — 「用哪個 library 比較好？」</a:t>
            </a:r>
          </a:p>
          <a:p>
            <a:pPr>
              <a:spcAft>
                <a:spcPts val="600"/>
              </a:spcAft>
              <a:defRPr sz="1400">
                <a:solidFill>
                  <a:srgbClr val="E8E8E8"/>
                </a:solidFill>
                <a:latin typeface="Arial"/>
              </a:defRPr>
            </a:pPr>
            <a:r>
              <a:t>📋 交代任務 — 「幫我規劃這個專案結構」</a:t>
            </a:r>
          </a:p>
          <a:p>
            <a:pPr>
              <a:spcAft>
                <a:spcPts val="600"/>
              </a:spcAft>
              <a:defRPr sz="1400">
                <a:solidFill>
                  <a:srgbClr val="E8E8E8"/>
                </a:solidFill>
                <a:latin typeface="Arial"/>
              </a:defRPr>
            </a:pPr>
            <a:r>
              <a:t>🔄 給 feedback — 「這裡要改，那裡要調」</a:t>
            </a:r>
          </a:p>
          <a:p>
            <a:pPr>
              <a:spcAft>
                <a:spcPts val="600"/>
              </a:spcAft>
              <a:defRPr sz="1400">
                <a:solidFill>
                  <a:srgbClr val="E8E8E8"/>
                </a:solidFill>
                <a:latin typeface="Arial"/>
              </a:defRPr>
            </a:pPr>
            <a:r>
              <a:t>✅ 小事直接幹 — code 修改不用問，直接改</a:t>
            </a:r>
          </a:p>
          <a:p>
            <a:pPr>
              <a:spcAft>
                <a:spcPts val="600"/>
              </a:spcAft>
              <a:defRPr sz="1400">
                <a:solidFill>
                  <a:srgbClr val="E8E8E8"/>
                </a:solidFill>
                <a:latin typeface="Arial"/>
              </a:defRPr>
            </a:pPr>
            <a:r>
              <a:t>⚠️ 大事先確認 — 發佈、部署才問你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029200" cy="45720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8288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Arial"/>
              </a:defRPr>
            </a:pPr>
            <a:r>
              <a:t>溝通守則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377440"/>
            <a:ext cx="4389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E8E8E8"/>
                </a:solidFill>
                <a:latin typeface="Arial"/>
              </a:defRPr>
            </a:pPr>
            <a:r>
              <a:t>📱 Telegram 為主 — 你在哪我在哪</a:t>
            </a:r>
          </a:p>
          <a:p>
            <a:pPr>
              <a:spcAft>
                <a:spcPts val="600"/>
              </a:spcAft>
              <a:defRPr sz="1400">
                <a:solidFill>
                  <a:srgbClr val="E8E8E8"/>
                </a:solidFill>
                <a:latin typeface="Arial"/>
              </a:defRPr>
            </a:pPr>
            <a:r>
              <a:t>📝 中文繁體 — 偶爾夾英文技術名詞</a:t>
            </a:r>
          </a:p>
          <a:p>
            <a:pPr>
              <a:spcAft>
                <a:spcPts val="600"/>
              </a:spcAft>
              <a:defRPr sz="1400">
                <a:solidFill>
                  <a:srgbClr val="E8E8E8"/>
                </a:solidFill>
                <a:latin typeface="Arial"/>
              </a:defRPr>
            </a:pPr>
            <a:r>
              <a:t>⚡ 訊息簡潔 — 重點先行，不用客套</a:t>
            </a:r>
          </a:p>
          <a:p>
            <a:pPr>
              <a:spcAft>
                <a:spcPts val="600"/>
              </a:spcAft>
              <a:defRPr sz="1400">
                <a:solidFill>
                  <a:srgbClr val="E8E8E8"/>
                </a:solidFill>
                <a:latin typeface="Arial"/>
              </a:defRPr>
            </a:pPr>
            <a:r>
              <a:t>🔔 不問廢話 — 能查的先自己查</a:t>
            </a:r>
          </a:p>
          <a:p>
            <a:pPr>
              <a:spcAft>
                <a:spcPts val="600"/>
              </a:spcAft>
              <a:defRPr sz="1400">
                <a:solidFill>
                  <a:srgbClr val="E8E8E8"/>
                </a:solidFill>
                <a:latin typeface="Arial"/>
              </a:defRPr>
            </a:pPr>
            <a:r>
              <a:t>🤫 不打擾 — 你需要我時我一定在</a:t>
            </a:r>
          </a:p>
          <a:p>
            <a:pPr>
              <a:spcAft>
                <a:spcPts val="600"/>
              </a:spcAft>
              <a:defRPr sz="1400">
                <a:solidFill>
                  <a:srgbClr val="E8E8E8"/>
                </a:solidFill>
                <a:latin typeface="Arial"/>
              </a:defRPr>
            </a:pPr>
            <a:r>
              <a:t>🗣️ 直接講 — 不喜歡的風格直接說，我調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⚡ 準備好了，隨時開工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4FF"/>
                </a:solidFill>
                <a:latin typeface="Arial"/>
              </a:defRPr>
            </a:pPr>
            <a:r>
              <a:t>你一句話，剩下的我來處理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931920"/>
            <a:ext cx="2743200" cy="25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Arial"/>
              </a:defRPr>
            </a:pPr>
            <a:r>
              <a:t>快閃軟件客 ⚡ 閃電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99999"/>
                </a:solidFill>
                <a:latin typeface="Arial"/>
              </a:defRPr>
            </a:pPr>
            <a:r>
              <a:t>系統顧問兼執行者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